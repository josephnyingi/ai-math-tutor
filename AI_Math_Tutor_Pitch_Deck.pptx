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</a:rPr>
              <a:t>AI Math Tutor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651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>
                <a:solidFill>
                  <a:srgbClr val="C7D2FE"/>
                </a:solidFill>
              </a:rPr>
              <a:t>for Early Learners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566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</a:rPr>
              <a:t>Offline · Adaptive · Multilingual  |  Kinyarwanda · French · English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4206240"/>
            <a:ext cx="3200400" cy="457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4434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</a:rPr>
              <a:t>Joseph Nyingi   ·   josenyingi@gmail.com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00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</a:rPr>
              <a:t>S2.T3.1  ·  AIMS KTT Hackathon  ·  Tier 3  · 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7D2FE"/>
                </a:solidFill>
              </a:rPr>
              <a:t>A numeracy crisis hiding in plain sight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2651760" cy="14630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600200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50 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24028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7D2FE"/>
                </a:solidFill>
              </a:rPr>
              <a:t>students per
teacher in Rwanda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463040"/>
            <a:ext cx="2651760" cy="14630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1600200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24028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7D2FE"/>
                </a:solidFill>
              </a:rPr>
              <a:t>cloud tutors that
work offline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463040"/>
            <a:ext cx="2651760" cy="14630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600200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&lt; $50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24028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7D2FE"/>
                </a:solidFill>
              </a:rPr>
              <a:t>tablet — the only
device available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69680" y="1463040"/>
            <a:ext cx="2651760" cy="14630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0" y="1600200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224028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7D2FE"/>
                </a:solidFill>
              </a:rPr>
              <a:t>languages a child
may mix in one answer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200400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</a:rPr>
              <a:t>•  A P1 child who can't count at age 7 struggles with fractions at 9 and algebra at 12.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3767328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</a:rPr>
              <a:t>•  Parents are often non-literate — they cannot tutor one-to-one.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334256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</a:rPr>
              <a:t>•  Every existing digital tutor assumes English, a cloud connection, or a literate adult nearby.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4901184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</a:rPr>
              <a:t>•  The numeracy gap widens every year because no affordable, offline, multilingual tool exists.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Our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7D2FE"/>
                </a:solidFill>
              </a:rPr>
              <a:t>One tutor. Any tablet. Any language. No internet.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17320"/>
            <a:ext cx="11612880" cy="8046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472184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56DB"/>
                </a:solidFill>
              </a:rPr>
              <a:t>🔇  Fully Offline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819656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Whisper-tiny ASR · BKT knowledge tracing · template + LoRA feedback · AES-256-GCM SQLite
Zero bytes leave the device at inference.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350008"/>
            <a:ext cx="11612880" cy="8046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240487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56DB"/>
                </a:solidFill>
              </a:rPr>
              <a:t>🌍  Truly Multilingual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752344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Kinyarwanda · French · English · code-switched input.
Detects mid-sentence language switches and replies in the child's dominant language.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282696"/>
            <a:ext cx="11612880" cy="8046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333756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56DB"/>
                </a:solidFill>
              </a:rPr>
              <a:t>🧠  Adaptive to Each Child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685032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Bayesian Knowledge Tracing per skill. Selects next item at the child's zone of proximal development.
Dyscalculia early-warning flag after 3 plateau sessions.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215384"/>
            <a:ext cx="11612880" cy="8046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427024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56DB"/>
                </a:solidFill>
              </a:rPr>
              <a:t>📱  Any Hardware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4617720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24 MB on-device footprint (target ≤ 75 MB ✓).
Runs on a $50 Android tablet. Tap + voice dual input — voice is augmented, not required.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7D2FE"/>
                </a:solidFill>
              </a:rPr>
              <a:t>7 tasks · 1 offline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417320"/>
            <a:ext cx="1554480" cy="34747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146304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7D2FE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1828800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ASR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2514600"/>
            <a:ext cx="15544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7D2FE"/>
                </a:solidFill>
              </a:rPr>
              <a:t>Whisper-tiny
−4.5 semitone child
pitch normalisation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92808" y="1417320"/>
            <a:ext cx="1554480" cy="34747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92808" y="146304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7D2FE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92808" y="1828800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Lang Detect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92808" y="2514600"/>
            <a:ext cx="15544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7D2FE"/>
                </a:solidFill>
              </a:rPr>
              <a:t>Lexicon + trigram
hybrid · EN/FR/KIN
+ code-switch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57016" y="1417320"/>
            <a:ext cx="1554480" cy="34747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57016" y="146304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7D2FE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57016" y="1828800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Knowledge
Tracing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57016" y="2514600"/>
            <a:ext cx="15544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7D2FE"/>
                </a:solidFill>
              </a:rPr>
              <a:t>BKT per skill
Elo baseline
ZPD item selection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21224" y="1417320"/>
            <a:ext cx="1554480" cy="34747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21224" y="146304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7D2FE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21224" y="1828800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Visual
Grounding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21224" y="2514600"/>
            <a:ext cx="15544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7D2FE"/>
                </a:solidFill>
              </a:rPr>
              <a:t>BlobCounter
100% acc n=1–10
OWLViT-tiny optional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85432" y="1417320"/>
            <a:ext cx="1554480" cy="34747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85432" y="146304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7D2FE"/>
                </a:solidFill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85432" y="1828800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Language
Head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85432" y="2514600"/>
            <a:ext cx="15544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7D2FE"/>
                </a:solidFill>
              </a:rPr>
              <a:t>TinyLlama 1.1B
QLoRA rank=8
train_loss = 0.477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49640" y="1417320"/>
            <a:ext cx="1554480" cy="34747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49640" y="146304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7D2FE"/>
                </a:solidFill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40" y="1828800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Privacy
Store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9640" y="2514600"/>
            <a:ext cx="15544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7D2FE"/>
                </a:solidFill>
              </a:rPr>
              <a:t>AES-256-GCM SQLite
ε-DP sync payload
PIN learner switch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213848" y="1417320"/>
            <a:ext cx="1554480" cy="34747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13848" y="146304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7D2FE"/>
                </a:solidFill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13848" y="1828800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Parent
Report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13848" y="2514600"/>
            <a:ext cx="15544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7D2FE"/>
                </a:solidFill>
              </a:rPr>
              <a:t>HTML/JSON/text
Icon-only for
non-literate parents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5120640"/>
            <a:ext cx="12188952" cy="457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52120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</a:rPr>
              <a:t>All 7 components run on-device · 19 / 19 smoke tests pass · python3 scripts/smoke_test.py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Key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7D2FE"/>
                </a:solidFill>
              </a:rPr>
              <a:t>Every number is seeded &amp; reproducible — python3 scripts/eval_end_to_end.py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17320"/>
            <a:ext cx="3657600" cy="1645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554480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0.566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19456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7D2FE"/>
                </a:solidFill>
              </a:rPr>
              <a:t>BKT AUC
(CI 0.547–0.585)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59" y="1417320"/>
            <a:ext cx="3657600" cy="1645920"/>
          </a:xfrm>
          <a:prstGeom prst="rect">
            <a:avLst/>
          </a:prstGeom>
          <a:solidFill>
            <a:srgbClr val="0CA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51959" y="1554480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+0.049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59" y="219456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7D2FE"/>
                </a:solidFill>
              </a:rPr>
              <a:t>BKT vs Elo
AUC delta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598" y="1417320"/>
            <a:ext cx="3657600" cy="1645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8" y="1554480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8" y="219456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7D2FE"/>
                </a:solidFill>
              </a:rPr>
              <a:t>Number-word
parser accuracy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840480"/>
            <a:ext cx="3657600" cy="1645920"/>
          </a:xfrm>
          <a:prstGeom prst="rect">
            <a:avLst/>
          </a:prstGeom>
          <a:solidFill>
            <a:srgbClr val="0CA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3977640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84.2%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461772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7D2FE"/>
                </a:solidFill>
              </a:rPr>
              <a:t>Language detection
(4-class F1 ≥ 0.80)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51959" y="3840480"/>
            <a:ext cx="3657600" cy="1645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51959" y="3977640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5.92/6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59" y="461772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7D2FE"/>
                </a:solidFill>
              </a:rPr>
              <a:t>Feedback rubric
(100% cases ≥ 5/6)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598" y="3840480"/>
            <a:ext cx="3657600" cy="1645920"/>
          </a:xfrm>
          <a:prstGeom prst="rect">
            <a:avLst/>
          </a:prstGeom>
          <a:solidFill>
            <a:srgbClr val="0CA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598" y="3977640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24 MB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598" y="461772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7D2FE"/>
                </a:solidFill>
              </a:rPr>
              <a:t>on-device
footprint (&lt; 75 MB)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57150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</a:rPr>
              <a:t>BKT strictly dominates Elo (+0.049 AUC, σ = 5.1 — far outside noise). Brier/log-loss reported transparently even where Elo wins (calibration vs discrimination trade-off).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Product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7D2FE"/>
                </a:solidFill>
              </a:rPr>
              <a:t>Built for the real user — not the demo user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371600"/>
            <a:ext cx="3840480" cy="52120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444752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56DB"/>
                </a:solidFill>
              </a:rPr>
              <a:t>First 90 Seconds
(6-year-old, Kinyarwanda)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1488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· 0 s — Warm KIN voice greeting. Large ▶ button, no reading required.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642616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· 15 s — Diagnostic probe #1: counting stimulus image + 3 tap buttons.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313639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· 60 s — 5 probes done. BKT initialised per skill.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363016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· 90 s — Personalised adaptive session at the child's exact level.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4123944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· 2 silences → tap-only mode. No penalty, no shame language.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371600"/>
            <a:ext cx="3840480" cy="52120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444752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56DB"/>
                </a:solidFill>
              </a:rPr>
              <a:t>Shared Tablet
(3 children, community centre)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1488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· Avatar icons only on home screen — no names displayed.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642616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· 4-digit PIN shown as coloured dots, not digits.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13639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· Each child's data encrypted under a separate AES key.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363016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· Per-response SQLite commit — hard reboot loses at most 1 answer.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4123944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· Works indefinitely without WiFi.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66760" y="1371600"/>
            <a:ext cx="3840480" cy="52120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58200" y="1444752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56DB"/>
                </a:solidFill>
              </a:rPr>
              <a:t>Parent Report
(non-literate parent)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1488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· 3 big icons: trend arrow · best skill star · needs-help flag.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2642616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· 5 colour bars — green / amber / red — no numbers or percentages.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313639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· Session count shown as dots (●●● = 3 sessions this week).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363016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· QR code → 20-second voiced Kinyarwanda summary.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4123944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· Full report understood in under 60 seconds.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What's Already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7D2FE"/>
                </a:solidFill>
              </a:rPr>
              <a:t>This is not a concept — it is a working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17320"/>
            <a:ext cx="11612880" cy="60350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49047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CA678"/>
                </a:solidFill>
              </a:rPr>
              <a:t>✅  Full offline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1508760"/>
            <a:ext cx="7680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Whisper-tiny ASR · BKT · visual grounding · template feedback · SQLite — all running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93976"/>
            <a:ext cx="11612880" cy="60350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216712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CA678"/>
                </a:solidFill>
              </a:rPr>
              <a:t>✅  Real LoRA adapter trained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2185416"/>
            <a:ext cx="7680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TinyLlama-1.1B · QLoRA rank=8 · train_loss=0.477 · 793 s on Tesla T4 · committed in repo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770632"/>
            <a:ext cx="11612880" cy="60350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2843784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CA678"/>
                </a:solidFill>
              </a:rPr>
              <a:t>✅  HuggingFace model published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2862072"/>
            <a:ext cx="7680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huggingface.co/Nyingi101/math-tutor-tinyllama-lora — public, downloadable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447288"/>
            <a:ext cx="11612880" cy="60350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35204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CA678"/>
                </a:solidFill>
              </a:rPr>
              <a:t>✅  87-item curriculum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3538728"/>
            <a:ext cx="7680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5 skills · 4 age bands · difficulty 1–10 · EN/FR/KIN stems · reproducible from seed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123944"/>
            <a:ext cx="11612880" cy="60350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4197096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CA678"/>
                </a:solidFill>
              </a:rPr>
              <a:t>✅  Reproducible evaluation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4215384"/>
            <a:ext cx="7680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eval_end_to_end.py generates all metrics · figures/*.json committed · CI with 95% bounds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800600"/>
            <a:ext cx="11612880" cy="60350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487375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CA678"/>
                </a:solidFill>
              </a:rPr>
              <a:t>✅  Real interaction logging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60" y="4892040"/>
            <a:ext cx="7680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log_interaction() + export_interactions_for_finetuning() — ready to collect real child data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5477256"/>
            <a:ext cx="11612880" cy="60350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555040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CA678"/>
                </a:solidFill>
              </a:rPr>
              <a:t>✅  GitHub repo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23360" y="5568696"/>
            <a:ext cx="7680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github.com/Josephnyingi/ai-math-tutor · all code, weights, notebooks, eval artifacts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What We Haven't Solved Yet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7D2FE"/>
                </a:solidFill>
              </a:rPr>
              <a:t>Honest limitations — and the funded plan to fix them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17320"/>
            <a:ext cx="11612880" cy="10972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49047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91C1C"/>
                </a:solidFill>
              </a:rPr>
              <a:t>Synthetic training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1490472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⚠  The LoRA was trained on 2,000 generated pairs — not real child speech.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1490472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CA678"/>
                </a:solidFill>
              </a:rPr>
              <a:t>→  log_interaction() already captures real data from day 1 of deployment.
School pilot → 500 real interactions → retrain.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587752"/>
            <a:ext cx="11612880" cy="10972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66090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91C1C"/>
                </a:solidFill>
              </a:rPr>
              <a:t>Whisper-tiny KIN accuracy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660904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⚠  WER ~40% on Kinyarwanda out-of-the-box. Child pitch makes it harder.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2660904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CA678"/>
                </a:solidFill>
              </a:rPr>
              <a:t>→  Fine-tune Whisper-small on Mozilla Common Voice KIN + pitch-shifted audio.
Target: WER &lt; 15%.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758184"/>
            <a:ext cx="11612880" cy="10972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3831336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91C1C"/>
                </a:solidFill>
              </a:rPr>
              <a:t>No learning-gain 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3831336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⚠  System is proven technically. Educational impact is unvalidated.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3831336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CA678"/>
                </a:solidFill>
              </a:rPr>
              <a:t>→  School pilot: pre/post numeracy assessment · 60 children · 2 classes.
Target: +0.15 BKT mastery delta.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928616"/>
            <a:ext cx="11612880" cy="10972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500176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91C1C"/>
                </a:solidFill>
              </a:rPr>
              <a:t>No GGUF on-device yet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5001768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⚠  TinyLlama adapter not yet merged + quantised to run on $50 tablet.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5001768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CA678"/>
                </a:solidFill>
              </a:rPr>
              <a:t>→  merge-only script ready. 1 day of work post-pilot. Budget allocated.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Give me $30,000.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37160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7D2FE"/>
                </a:solidFill>
              </a:rPr>
              <a:t>By Month 3, I will put a working, evidence-backed numeracy tutor
in the hands of 60 Rwandan children — with peer-reviewed learning-gain data.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468880"/>
            <a:ext cx="5669280" cy="347472"/>
          </a:xfrm>
          <a:prstGeom prst="rect">
            <a:avLst/>
          </a:prstGeom>
          <a:solidFill>
            <a:srgbClr val="1F2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505456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2 engineers × 3 months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2505456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5A623"/>
                </a:solidFill>
              </a:rPr>
              <a:t>$21,000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871216"/>
            <a:ext cx="5669280" cy="347472"/>
          </a:xfrm>
          <a:prstGeom prst="rect">
            <a:avLst/>
          </a:prstGeom>
          <a:solidFill>
            <a:srgbClr val="1F2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907792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KIN linguistic consultant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907792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5A623"/>
                </a:solidFill>
              </a:rPr>
              <a:t>$1,500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273552"/>
            <a:ext cx="5669280" cy="347472"/>
          </a:xfrm>
          <a:prstGeom prst="rect">
            <a:avLst/>
          </a:prstGeom>
          <a:solidFill>
            <a:srgbClr val="1F2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310128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School pilot — 2 sites, tablets, logistics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3310128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5A623"/>
                </a:solidFill>
              </a:rPr>
              <a:t>$2,000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675888"/>
            <a:ext cx="5669280" cy="347472"/>
          </a:xfrm>
          <a:prstGeom prst="rect">
            <a:avLst/>
          </a:prstGeom>
          <a:solidFill>
            <a:srgbClr val="1F2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712464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GPU compute — 4 retraining runs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3712464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5A623"/>
                </a:solidFill>
              </a:rPr>
              <a:t>$500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078224"/>
            <a:ext cx="5669280" cy="347472"/>
          </a:xfrm>
          <a:prstGeom prst="rect">
            <a:avLst/>
          </a:prstGeom>
          <a:solidFill>
            <a:srgbClr val="1F2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11480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Teacher training workshops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411480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5A623"/>
                </a:solidFill>
              </a:rPr>
              <a:t>$1,000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480560"/>
            <a:ext cx="5669280" cy="347472"/>
          </a:xfrm>
          <a:prstGeom prst="rect">
            <a:avLst/>
          </a:prstGeom>
          <a:solidFill>
            <a:srgbClr val="1F2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517136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Contingency 15%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4517136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5A623"/>
                </a:solidFill>
              </a:rPr>
              <a:t>$3,900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928616"/>
            <a:ext cx="5669280" cy="40233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96519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Total ask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496519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</a:rPr>
              <a:t>$29,900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24688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A623"/>
                </a:solidFill>
              </a:rPr>
              <a:t>Month 3 deliverables: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29260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✓  KIN-fine-tuned ASR  —  WER &lt; 15%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328416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✓  Real-data retrained LoRA  —  500+ child interactions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373075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✓  GGUF on $50 tablet  —  fully quantised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413308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✓  Learning-gain evidence  —  60 children, pre/post assessment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4535424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✓  Teacher dashboard v1  —  class-level BKT heatmap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49377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✓  Research brief  —  ready for AIMS grant / journal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90-Day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7D2FE"/>
                </a:solidFill>
              </a:rPr>
              <a:t>Milestone by milestone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371600"/>
            <a:ext cx="3840480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426464"/>
            <a:ext cx="3657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Month 1 — Deploy &amp; Collect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965960"/>
            <a:ext cx="3840480" cy="7772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" y="2057400"/>
            <a:ext cx="3611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Deploy to School A — 30 children, P1–P3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2807208"/>
            <a:ext cx="3840480" cy="7772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" y="2898648"/>
            <a:ext cx="3611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Pre-assessment baseline (numeracy per skill)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3648456"/>
            <a:ext cx="3840480" cy="7772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" y="3739896"/>
            <a:ext cx="3611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Collect 500 real interaction triples on-device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4489704"/>
            <a:ext cx="3840480" cy="7772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" y="4581144"/>
            <a:ext cx="3611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GGUF quantise TinyLlama → verify on $50 tablet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5330952"/>
            <a:ext cx="3840480" cy="7772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8328" y="5422392"/>
            <a:ext cx="3611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Weekly teacher check-in; tune silence thresholds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1371600"/>
            <a:ext cx="3840480" cy="502920"/>
          </a:xfrm>
          <a:prstGeom prst="rect">
            <a:avLst/>
          </a:prstGeom>
          <a:solidFill>
            <a:srgbClr val="0CA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1426464"/>
            <a:ext cx="3657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Month 2 — Retrain &amp; Validate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1965960"/>
            <a:ext cx="3840480" cy="7772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07408" y="2057400"/>
            <a:ext cx="3611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Export pseudonymised interactions → retrain LoRA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80" y="2807208"/>
            <a:ext cx="3840480" cy="7772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07408" y="2898648"/>
            <a:ext cx="3611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Fine-tune Whisper-small on KIN Common Voice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3648456"/>
            <a:ext cx="3840480" cy="7772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07408" y="3739896"/>
            <a:ext cx="3611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Ship teacher dashboard v1 (class skill heatmap)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97680" y="4489704"/>
            <a:ext cx="3840480" cy="7772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07408" y="4581144"/>
            <a:ext cx="3611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Mid-point assessment at Week 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97680" y="5330952"/>
            <a:ext cx="3840480" cy="7772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07408" y="5422392"/>
            <a:ext cx="3611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Onboard School B — 30 more children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66760" y="1371600"/>
            <a:ext cx="3840480" cy="5029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58200" y="1426464"/>
            <a:ext cx="3657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Month 3 — Evidence &amp; Scale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66760" y="1965960"/>
            <a:ext cx="3840480" cy="7772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76488" y="2057400"/>
            <a:ext cx="3611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Post-assessment vs baseline + control group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66760" y="2807208"/>
            <a:ext cx="3840480" cy="7772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76488" y="2898648"/>
            <a:ext cx="3611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Analyse learning gains (target: +0.15 BKT delta)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66760" y="3648456"/>
            <a:ext cx="3840480" cy="7772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76488" y="3739896"/>
            <a:ext cx="3611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Draft research brief (AIMS grant / journal)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366760" y="4489704"/>
            <a:ext cx="3840480" cy="7772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76488" y="4581144"/>
            <a:ext cx="3611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Package v1.0 with reproducible training pipeline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366760" y="5330952"/>
            <a:ext cx="3840480" cy="7772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76488" y="5422392"/>
            <a:ext cx="3611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Present results · identify School 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A child who cannot count at 7
struggles with fractions at 9
and algebra at 12.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8346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7D2FE"/>
                </a:solidFill>
              </a:rPr>
              <a:t>We built the tutor that sits with her one-to-one,
in her language, on the device she already has,
for as long as she needs.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4480560"/>
            <a:ext cx="5029200" cy="3657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4663440"/>
            <a:ext cx="8229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Joseph Nyingi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102352"/>
            <a:ext cx="8229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7D2FE"/>
                </a:solidFill>
              </a:rPr>
              <a:t>josenyingi@gmail.com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541264"/>
            <a:ext cx="8229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</a:rPr>
              <a:t>github.com/Josephnyingi/ai-math-tutor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980176"/>
            <a:ext cx="8229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</a:rPr>
              <a:t>huggingface.co/Nyingi101/math-tutor-tinyllama-lora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